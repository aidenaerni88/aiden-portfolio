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991350" cy="9282100"/>
  <p:embeddedFontLs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923">
          <p15:clr>
            <a:srgbClr val="A4A3A4"/>
          </p15:clr>
        </p15:guide>
        <p15:guide id="2" pos="220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3" orient="horz"/>
        <p:guide pos="2202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3713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44938" y="0"/>
            <a:ext cx="3033712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69888" y="685800"/>
            <a:ext cx="6240462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09638" y="4424363"/>
            <a:ext cx="5159375" cy="4197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51900"/>
            <a:ext cx="3033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44938" y="8851900"/>
            <a:ext cx="303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944938" y="8851900"/>
            <a:ext cx="303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369888" y="685800"/>
            <a:ext cx="6240462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09638" y="4424363"/>
            <a:ext cx="5159375" cy="4197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Khamza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909638" y="4424363"/>
            <a:ext cx="5159375" cy="419735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Khamza</a:t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369888" y="685800"/>
            <a:ext cx="6240462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909638" y="4424363"/>
            <a:ext cx="5159375" cy="419735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Aiden</a:t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69888" y="685800"/>
            <a:ext cx="6240462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909638" y="4424363"/>
            <a:ext cx="5159375" cy="419735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Khamza</a:t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69888" y="685800"/>
            <a:ext cx="6240462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909638" y="4424363"/>
            <a:ext cx="5159375" cy="419735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Daniel</a:t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369888" y="685800"/>
            <a:ext cx="6240462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b88da1933_0_26:notes"/>
          <p:cNvSpPr txBox="1"/>
          <p:nvPr>
            <p:ph idx="1" type="body"/>
          </p:nvPr>
        </p:nvSpPr>
        <p:spPr>
          <a:xfrm>
            <a:off x="909638" y="4424363"/>
            <a:ext cx="5159400" cy="419730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Aiden</a:t>
            </a:r>
            <a:endParaRPr/>
          </a:p>
        </p:txBody>
      </p:sp>
      <p:sp>
        <p:nvSpPr>
          <p:cNvPr id="104" name="Google Shape;104;g31b88da1933_0_26:notes"/>
          <p:cNvSpPr/>
          <p:nvPr>
            <p:ph idx="2" type="sldImg"/>
          </p:nvPr>
        </p:nvSpPr>
        <p:spPr>
          <a:xfrm>
            <a:off x="369888" y="685800"/>
            <a:ext cx="6240600" cy="351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b88da1933_0_18:notes"/>
          <p:cNvSpPr txBox="1"/>
          <p:nvPr>
            <p:ph idx="1" type="body"/>
          </p:nvPr>
        </p:nvSpPr>
        <p:spPr>
          <a:xfrm>
            <a:off x="909638" y="4424363"/>
            <a:ext cx="5159400" cy="419730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Austin</a:t>
            </a:r>
            <a:endParaRPr/>
          </a:p>
        </p:txBody>
      </p:sp>
      <p:sp>
        <p:nvSpPr>
          <p:cNvPr id="113" name="Google Shape;113;g31b88da1933_0_18:notes"/>
          <p:cNvSpPr/>
          <p:nvPr>
            <p:ph idx="2" type="sldImg"/>
          </p:nvPr>
        </p:nvSpPr>
        <p:spPr>
          <a:xfrm>
            <a:off x="369888" y="685800"/>
            <a:ext cx="6240600" cy="351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b88da1933_0_10:notes"/>
          <p:cNvSpPr txBox="1"/>
          <p:nvPr>
            <p:ph idx="1" type="body"/>
          </p:nvPr>
        </p:nvSpPr>
        <p:spPr>
          <a:xfrm>
            <a:off x="909638" y="4424363"/>
            <a:ext cx="5159400" cy="419730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Daniel</a:t>
            </a:r>
            <a:endParaRPr/>
          </a:p>
        </p:txBody>
      </p:sp>
      <p:sp>
        <p:nvSpPr>
          <p:cNvPr id="128" name="Google Shape;128;g31b88da1933_0_10:notes"/>
          <p:cNvSpPr/>
          <p:nvPr>
            <p:ph idx="2" type="sldImg"/>
          </p:nvPr>
        </p:nvSpPr>
        <p:spPr>
          <a:xfrm>
            <a:off x="369888" y="685800"/>
            <a:ext cx="6240600" cy="351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b88da1933_1_0:notes"/>
          <p:cNvSpPr/>
          <p:nvPr>
            <p:ph idx="2" type="sldImg"/>
          </p:nvPr>
        </p:nvSpPr>
        <p:spPr>
          <a:xfrm>
            <a:off x="369888" y="685800"/>
            <a:ext cx="6240600" cy="351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b88da1933_1_0:notes"/>
          <p:cNvSpPr txBox="1"/>
          <p:nvPr>
            <p:ph idx="1" type="body"/>
          </p:nvPr>
        </p:nvSpPr>
        <p:spPr>
          <a:xfrm>
            <a:off x="909638" y="4424363"/>
            <a:ext cx="5159400" cy="4197300"/>
          </a:xfrm>
          <a:prstGeom prst="rect">
            <a:avLst/>
          </a:prstGeom>
        </p:spPr>
        <p:txBody>
          <a:bodyPr anchorCtr="0" anchor="t" bIns="45525" lIns="91075" spcFirstLastPara="1" rIns="91075" wrap="square" tIns="45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Austin</a:t>
            </a:r>
            <a:endParaRPr/>
          </a:p>
        </p:txBody>
      </p:sp>
      <p:sp>
        <p:nvSpPr>
          <p:cNvPr id="137" name="Google Shape;137;g31b88da1933_1_0:notes"/>
          <p:cNvSpPr txBox="1"/>
          <p:nvPr>
            <p:ph idx="12" type="sldNum"/>
          </p:nvPr>
        </p:nvSpPr>
        <p:spPr>
          <a:xfrm>
            <a:off x="3944938" y="8851900"/>
            <a:ext cx="3033600" cy="457200"/>
          </a:xfrm>
          <a:prstGeom prst="rect">
            <a:avLst/>
          </a:prstGeom>
        </p:spPr>
        <p:txBody>
          <a:bodyPr anchorCtr="0" anchor="b" bIns="45525" lIns="91075" spcFirstLastPara="1" rIns="91075" wrap="square" tIns="45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-9623" y="-9622"/>
            <a:ext cx="12214423" cy="6877243"/>
          </a:xfrm>
          <a:prstGeom prst="rect">
            <a:avLst/>
          </a:prstGeom>
          <a:solidFill>
            <a:srgbClr val="DC44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914401" y="2977164"/>
            <a:ext cx="10363200" cy="1083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mpact"/>
              <a:buNone/>
              <a:defRPr sz="4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828800" y="4079677"/>
            <a:ext cx="8534401" cy="1327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86588" y="6075181"/>
            <a:ext cx="31238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COLLEGE OF ENGINEERING</a:t>
            </a:r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4508711" y="6075181"/>
            <a:ext cx="70010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School of Mechanical, Industrial, and Manufacturing Engineering</a:t>
            </a:r>
            <a:endParaRPr sz="16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786406" y="6027385"/>
            <a:ext cx="10625129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OSU_vertical_2C_W_over_B.eps"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19094" y="467918"/>
            <a:ext cx="1953813" cy="205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585328" y="224302"/>
            <a:ext cx="10365566" cy="1193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  <a:defRPr>
                <a:solidFill>
                  <a:srgbClr val="DC44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585328" y="1667582"/>
            <a:ext cx="10769992" cy="439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913217" y="6356352"/>
            <a:ext cx="25411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737601" y="6356352"/>
            <a:ext cx="25560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SU_COE_horizontal_2C_O_over_B.eps"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7853" y="324701"/>
            <a:ext cx="2805843" cy="802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SU_COE_horizontal_2C_O_over_B.eps"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7853" y="324701"/>
            <a:ext cx="2805843" cy="80229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type="title"/>
          </p:nvPr>
        </p:nvSpPr>
        <p:spPr>
          <a:xfrm>
            <a:off x="928131" y="2832443"/>
            <a:ext cx="10365566" cy="1193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  <a:defRPr>
                <a:solidFill>
                  <a:srgbClr val="DC44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913217" y="6356352"/>
            <a:ext cx="25411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1" y="6356352"/>
            <a:ext cx="25560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SU_COE_horizontal_2C_O_over_B.eps"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7853" y="324701"/>
            <a:ext cx="2805843" cy="80229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idx="10" type="dt"/>
          </p:nvPr>
        </p:nvSpPr>
        <p:spPr>
          <a:xfrm>
            <a:off x="913217" y="6356352"/>
            <a:ext cx="25411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737601" y="6356352"/>
            <a:ext cx="25560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slide">
  <p:cSld name="Presentation title 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-1" y="-1"/>
            <a:ext cx="12192001" cy="14542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 txBox="1"/>
          <p:nvPr>
            <p:ph type="ctrTitle"/>
          </p:nvPr>
        </p:nvSpPr>
        <p:spPr>
          <a:xfrm>
            <a:off x="304800" y="1600200"/>
            <a:ext cx="7112000" cy="28886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b="0" sz="3200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/>
        </p:nvSpPr>
        <p:spPr>
          <a:xfrm>
            <a:off x="0" y="6154058"/>
            <a:ext cx="12192000" cy="703943"/>
          </a:xfrm>
          <a:prstGeom prst="rect">
            <a:avLst/>
          </a:prstGeom>
          <a:solidFill>
            <a:srgbClr val="C34500"/>
          </a:solidFill>
          <a:ln cap="flat" cmpd="sng" w="25400">
            <a:solidFill>
              <a:srgbClr val="C3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316967" y="228600"/>
            <a:ext cx="9850891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School of Mechanical, Industrial and Manufacturing Engineering</a:t>
            </a:r>
            <a:endParaRPr/>
          </a:p>
        </p:txBody>
      </p:sp>
      <p:pic>
        <p:nvPicPr>
          <p:cNvPr descr="C:\Users\calvoamf.ENGINEERING.000\Documents\Dropbox\Research Program\tag3.png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9961" y="28575"/>
            <a:ext cx="171854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>
            <p:ph idx="2" type="pic"/>
          </p:nvPr>
        </p:nvSpPr>
        <p:spPr>
          <a:xfrm>
            <a:off x="7652824" y="1631950"/>
            <a:ext cx="4183576" cy="4262438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304800" y="4621876"/>
            <a:ext cx="7112000" cy="1283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 showMasterSp="0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idx="1" type="body"/>
          </p:nvPr>
        </p:nvSpPr>
        <p:spPr>
          <a:xfrm>
            <a:off x="1828801" y="2743200"/>
            <a:ext cx="9497484" cy="1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1828800" y="1268760"/>
            <a:ext cx="10160000" cy="132204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sx="83000" rotWithShape="0" algn="ctr" sy="83000">
              <a:srgbClr val="FFAD6B"/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mpact"/>
              <a:buNone/>
              <a:defRPr b="0" sz="44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0" y="1340769"/>
            <a:ext cx="1727200" cy="1113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0" y="6347823"/>
            <a:ext cx="12192000" cy="411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School of Mechanical,</a:t>
            </a:r>
            <a:r>
              <a:rPr b="0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Industrial &amp; Manufacturing Engineering</a:t>
            </a:r>
            <a:endParaRPr b="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11549827" y="6371001"/>
            <a:ext cx="5539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7EED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F7EED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00442" y="6176716"/>
            <a:ext cx="21971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  <a:defRPr b="0" i="0" sz="4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2"/>
            <a:ext cx="1097280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gif"/><Relationship Id="rId5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9.jp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ctrTitle"/>
          </p:nvPr>
        </p:nvSpPr>
        <p:spPr>
          <a:xfrm>
            <a:off x="914401" y="2977164"/>
            <a:ext cx="10363200" cy="1083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mpact"/>
              <a:buNone/>
            </a:pPr>
            <a:r>
              <a:rPr lang="en-US" sz="3600"/>
              <a:t>It’s Lunch Time</a:t>
            </a:r>
            <a:br>
              <a:rPr lang="en-US" sz="3600"/>
            </a:br>
            <a:r>
              <a:rPr lang="en-US" sz="2800"/>
              <a:t>Final Presentation</a:t>
            </a:r>
            <a:endParaRPr sz="2400"/>
          </a:p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>
            <a:off x="1828800" y="4079677"/>
            <a:ext cx="8534401" cy="1327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/>
              <a:t>Aiden Aerni</a:t>
            </a:r>
            <a:endParaRPr/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/>
              <a:t>Khamza Yerken</a:t>
            </a:r>
            <a:endParaRPr/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/>
              <a:t>Daniel Eastman</a:t>
            </a:r>
            <a:endParaRPr/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/>
              <a:t>Austin Walker</a:t>
            </a:r>
            <a:endParaRPr/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4760913" y="225425"/>
            <a:ext cx="1841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3794126" y="53435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1458885" y="6301049"/>
            <a:ext cx="30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December 5th, 2024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585328" y="224302"/>
            <a:ext cx="10365566" cy="1193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</a:pPr>
            <a:r>
              <a:rPr lang="en-US"/>
              <a:t>Our Project</a:t>
            </a:r>
            <a:endParaRPr/>
          </a:p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585326" y="1667575"/>
            <a:ext cx="53868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 </a:t>
            </a:r>
            <a:r>
              <a:rPr b="1" lang="en-US"/>
              <a:t>Problem:</a:t>
            </a:r>
            <a:br>
              <a:rPr lang="en-US"/>
            </a:br>
            <a:r>
              <a:rPr lang="en-US"/>
              <a:t>Turning food on a roasting stick over a fire is too much work.</a:t>
            </a:r>
            <a:endParaRPr/>
          </a:p>
        </p:txBody>
      </p:sp>
      <p:sp>
        <p:nvSpPr>
          <p:cNvPr id="69" name="Google Shape;69;p9"/>
          <p:cNvSpPr txBox="1"/>
          <p:nvPr/>
        </p:nvSpPr>
        <p:spPr>
          <a:xfrm>
            <a:off x="6096000" y="1667575"/>
            <a:ext cx="5783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Solution:</a:t>
            </a:r>
            <a:br>
              <a:rPr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device that automatically rotates the food over a fire.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3">
            <a:alphaModFix/>
          </a:blip>
          <a:srcRect b="11342" l="0" r="0" t="25681"/>
          <a:stretch/>
        </p:blipFill>
        <p:spPr>
          <a:xfrm>
            <a:off x="1560124" y="3758550"/>
            <a:ext cx="3437199" cy="2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0648" y="3718575"/>
            <a:ext cx="4500550" cy="29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4925" y="4617375"/>
            <a:ext cx="45720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type="title"/>
          </p:nvPr>
        </p:nvSpPr>
        <p:spPr>
          <a:xfrm>
            <a:off x="585328" y="224302"/>
            <a:ext cx="10365566" cy="1193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</a:pPr>
            <a:r>
              <a:rPr lang="en-US"/>
              <a:t>Project Requirements</a:t>
            </a:r>
            <a:endParaRPr/>
          </a:p>
        </p:txBody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585328" y="1667582"/>
            <a:ext cx="10769992" cy="439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The Primary Requirements of this Prototype are: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Rotates food automatically</a:t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Able to withstand high surrounding temperatures</a:t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Operarable independent from the user</a:t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Semi-collapsible for storage</a:t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Adjustable components</a:t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Adjustable rotation speed</a:t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Accessible and </a:t>
            </a:r>
            <a:r>
              <a:rPr lang="en-US" sz="2500"/>
              <a:t>convenient</a:t>
            </a:r>
            <a:r>
              <a:rPr lang="en-US" sz="2500"/>
              <a:t> power source</a:t>
            </a:r>
            <a:endParaRPr sz="2500"/>
          </a:p>
          <a:p>
            <a:pPr indent="-2667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User friendly</a:t>
            </a:r>
            <a:endParaRPr/>
          </a:p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737601" y="6356352"/>
            <a:ext cx="25560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</a:rPr>
              <a:t>‹#›</a:t>
            </a:fld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585328" y="224302"/>
            <a:ext cx="10365566" cy="1193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</a:pPr>
            <a:r>
              <a:rPr lang="en-US"/>
              <a:t>Design Development</a:t>
            </a:r>
            <a:endParaRPr/>
          </a:p>
        </p:txBody>
      </p:sp>
      <p:pic>
        <p:nvPicPr>
          <p:cNvPr id="85" name="Google Shape;85;p11"/>
          <p:cNvPicPr preferRelativeResize="0"/>
          <p:nvPr/>
        </p:nvPicPr>
        <p:blipFill rotWithShape="1">
          <a:blip r:embed="rId3">
            <a:alphaModFix/>
          </a:blip>
          <a:srcRect b="-13053" l="0" r="-12956" t="2336"/>
          <a:stretch/>
        </p:blipFill>
        <p:spPr>
          <a:xfrm>
            <a:off x="819700" y="1065150"/>
            <a:ext cx="4235276" cy="30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1"/>
          <p:cNvPicPr preferRelativeResize="0"/>
          <p:nvPr/>
        </p:nvPicPr>
        <p:blipFill rotWithShape="1">
          <a:blip r:embed="rId4">
            <a:alphaModFix/>
          </a:blip>
          <a:srcRect b="20243" l="0" r="4671" t="10215"/>
          <a:stretch/>
        </p:blipFill>
        <p:spPr>
          <a:xfrm>
            <a:off x="5420250" y="1114650"/>
            <a:ext cx="4551600" cy="252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1"/>
          <p:cNvPicPr preferRelativeResize="0"/>
          <p:nvPr/>
        </p:nvPicPr>
        <p:blipFill rotWithShape="1">
          <a:blip r:embed="rId5">
            <a:alphaModFix/>
          </a:blip>
          <a:srcRect b="14154" l="12138" r="11850" t="7597"/>
          <a:stretch/>
        </p:blipFill>
        <p:spPr>
          <a:xfrm rot="5400000">
            <a:off x="597288" y="4324438"/>
            <a:ext cx="1906350" cy="21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/>
          <p:cNvPicPr preferRelativeResize="0"/>
          <p:nvPr/>
        </p:nvPicPr>
        <p:blipFill rotWithShape="1">
          <a:blip r:embed="rId6">
            <a:alphaModFix/>
          </a:blip>
          <a:srcRect b="0" l="0" r="1322" t="16072"/>
          <a:stretch/>
        </p:blipFill>
        <p:spPr>
          <a:xfrm>
            <a:off x="8692425" y="4515450"/>
            <a:ext cx="3061424" cy="181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/>
          <p:cNvPicPr preferRelativeResize="0"/>
          <p:nvPr/>
        </p:nvPicPr>
        <p:blipFill rotWithShape="1">
          <a:blip r:embed="rId7">
            <a:alphaModFix/>
          </a:blip>
          <a:srcRect b="32051" l="0" r="1903" t="12120"/>
          <a:stretch/>
        </p:blipFill>
        <p:spPr>
          <a:xfrm>
            <a:off x="3348957" y="4310123"/>
            <a:ext cx="4606149" cy="21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/>
          <p:nvPr/>
        </p:nvSpPr>
        <p:spPr>
          <a:xfrm>
            <a:off x="753835" y="3733800"/>
            <a:ext cx="1143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Daniel 2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p11"/>
          <p:cNvSpPr txBox="1"/>
          <p:nvPr/>
        </p:nvSpPr>
        <p:spPr>
          <a:xfrm>
            <a:off x="5439310" y="3621375"/>
            <a:ext cx="114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Aiden 1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p11"/>
          <p:cNvSpPr txBox="1"/>
          <p:nvPr/>
        </p:nvSpPr>
        <p:spPr>
          <a:xfrm>
            <a:off x="449035" y="6324600"/>
            <a:ext cx="1143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Khamza 3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3497035" y="6400800"/>
            <a:ext cx="1143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Aiden 5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8602435" y="6248400"/>
            <a:ext cx="1143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Austin 4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>
            <a:off x="585328" y="224302"/>
            <a:ext cx="10365566" cy="1193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</a:pPr>
            <a:r>
              <a:rPr lang="en-US"/>
              <a:t>Design Development</a:t>
            </a:r>
            <a:endParaRPr/>
          </a:p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>
            <a:off x="7206129" y="1417400"/>
            <a:ext cx="45585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Pros: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Versatile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Easy to Manufacture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User-friendly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Efficient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Cons: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Safety/durability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Weight balance issues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Stackability/size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-US" sz="2500"/>
              <a:t>Safety of power mechanism</a:t>
            </a:r>
            <a:endParaRPr sz="2500"/>
          </a:p>
        </p:txBody>
      </p:sp>
      <p:pic>
        <p:nvPicPr>
          <p:cNvPr id="101" name="Google Shape;101;p12"/>
          <p:cNvPicPr preferRelativeResize="0"/>
          <p:nvPr/>
        </p:nvPicPr>
        <p:blipFill rotWithShape="1">
          <a:blip r:embed="rId3">
            <a:alphaModFix/>
          </a:blip>
          <a:srcRect b="-13053" l="0" r="-12956" t="2336"/>
          <a:stretch/>
        </p:blipFill>
        <p:spPr>
          <a:xfrm>
            <a:off x="744352" y="1640796"/>
            <a:ext cx="6619826" cy="46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585328" y="224302"/>
            <a:ext cx="10365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</a:pPr>
            <a:r>
              <a:rPr lang="en-US"/>
              <a:t>Design Development</a:t>
            </a:r>
            <a:endParaRPr/>
          </a:p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585328" y="1417407"/>
            <a:ext cx="107700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Design Analysis (Experimentation):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 sz="2500"/>
              <a:t>Conducted an experiment for the heat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shield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The chosen heat shield  reduced heat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on our product by 50%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 sz="2500"/>
              <a:t>We chose to use a material composed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of mylar, fiberglass, with an aluminized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surface from Design Engineering Inc.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6475" y="2450975"/>
            <a:ext cx="3986700" cy="24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4675" y="5167125"/>
            <a:ext cx="5487376" cy="1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954" y="5101150"/>
            <a:ext cx="2459973" cy="16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type="title"/>
          </p:nvPr>
        </p:nvSpPr>
        <p:spPr>
          <a:xfrm>
            <a:off x="585328" y="224302"/>
            <a:ext cx="10365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</a:pPr>
            <a:r>
              <a:rPr lang="en-US"/>
              <a:t>Design Solution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88750" y="1581650"/>
            <a:ext cx="21498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TOP (w/ lid off):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2690050" y="1116425"/>
            <a:ext cx="1384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FRONT</a:t>
            </a: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2192300" y="4030450"/>
            <a:ext cx="1384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</a:t>
            </a: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4425" y="969175"/>
            <a:ext cx="1587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ISOMETRIC</a:t>
            </a: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2700" y="4030450"/>
            <a:ext cx="2451175" cy="25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9134200" y="3603650"/>
            <a:ext cx="22119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PHOTOREALISTIC</a:t>
            </a: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100" y="2023813"/>
            <a:ext cx="1887500" cy="354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2000" y="4413550"/>
            <a:ext cx="3624001" cy="2244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6475" y="1201025"/>
            <a:ext cx="2121381" cy="260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48401" y="1352277"/>
            <a:ext cx="2733399" cy="3480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585328" y="224302"/>
            <a:ext cx="10365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C4400"/>
              </a:buClr>
              <a:buSzPts val="4400"/>
              <a:buFont typeface="Impact"/>
              <a:buNone/>
            </a:pPr>
            <a:r>
              <a:rPr lang="en-US"/>
              <a:t>Design Solution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25" y="3139498"/>
            <a:ext cx="8212150" cy="353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/>
          <p:cNvPicPr preferRelativeResize="0"/>
          <p:nvPr/>
        </p:nvPicPr>
        <p:blipFill rotWithShape="1">
          <a:blip r:embed="rId4">
            <a:alphaModFix/>
          </a:blip>
          <a:srcRect b="4142" l="8424" r="8415" t="5799"/>
          <a:stretch/>
        </p:blipFill>
        <p:spPr>
          <a:xfrm>
            <a:off x="6616550" y="1243625"/>
            <a:ext cx="5010700" cy="386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585325" y="1352275"/>
            <a:ext cx="60312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Electrical Block Diagram:</a:t>
            </a:r>
            <a:endParaRPr i="1" sz="2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585328" y="224302"/>
            <a:ext cx="10365600" cy="119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Prototype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3079278" y="1747532"/>
            <a:ext cx="10770000" cy="439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Time to show it off </a:t>
            </a:r>
            <a:r>
              <a:rPr b="1" lang="en-US" sz="5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😈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8737601" y="6356352"/>
            <a:ext cx="25560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egonstate_coe_1_mi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